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9" r:id="rId14"/>
    <p:sldId id="270" r:id="rId15"/>
    <p:sldId id="271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ailto:adrian.challinor@osiris.co.uk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hyperlink" Target="mailto:mike@cpmarine.co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6448-4AE8-DDA2-D1C7-32D3A3E631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pPr algn="ctr"/>
            <a:br>
              <a:rPr lang="en-US" sz="4800" dirty="0"/>
            </a:br>
            <a:r>
              <a:rPr lang="en-GB" sz="3600" b="1" dirty="0"/>
              <a:t>Maritime Reporting. </a:t>
            </a:r>
            <a:br>
              <a:rPr lang="en-GB" sz="3600" b="1" dirty="0"/>
            </a:br>
            <a:r>
              <a:rPr lang="en-GB" sz="3600" b="1" dirty="0"/>
              <a:t>Enter Once. Deliver Everywhere.</a:t>
            </a:r>
            <a:br>
              <a:rPr lang="en-GB" sz="36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17661-84DF-9537-B0AB-16D422C37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989" y="4548779"/>
            <a:ext cx="5414011" cy="861420"/>
          </a:xfrm>
        </p:spPr>
        <p:txBody>
          <a:bodyPr/>
          <a:lstStyle/>
          <a:p>
            <a:r>
              <a:rPr lang="en-US" dirty="0"/>
              <a:t>Seed Round: £50k - £100K </a:t>
            </a:r>
          </a:p>
          <a:p>
            <a:r>
              <a:rPr lang="en-US" dirty="0"/>
              <a:t>Strategic integration opportunity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2177F-A62E-AFBC-FEEF-4EA88BC873E6}"/>
              </a:ext>
            </a:extLst>
          </p:cNvPr>
          <p:cNvSpPr txBox="1"/>
          <p:nvPr/>
        </p:nvSpPr>
        <p:spPr>
          <a:xfrm>
            <a:off x="8777320" y="4394536"/>
            <a:ext cx="27326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Mike Powell</a:t>
            </a:r>
            <a:br>
              <a:rPr lang="en-US" sz="2000" dirty="0"/>
            </a:br>
            <a:r>
              <a:rPr lang="en-US" sz="2000" dirty="0"/>
              <a:t>Adrian Challinor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866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C5F3-4F66-EF8C-FE46-F0155D56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Operational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A662-0A73-AF6D-839E-7BCC952EB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8576716" cy="4195481"/>
          </a:xfrm>
        </p:spPr>
        <p:txBody>
          <a:bodyPr/>
          <a:lstStyle/>
          <a:p>
            <a:r>
              <a:rPr lang="en-US" dirty="0"/>
              <a:t>Masters entering the same data multiple time: </a:t>
            </a:r>
          </a:p>
          <a:p>
            <a:pPr lvl="1"/>
            <a:r>
              <a:rPr lang="en-US" dirty="0"/>
              <a:t>Up to 10 reports, same data, different formats, per day</a:t>
            </a:r>
          </a:p>
          <a:p>
            <a:pPr lvl="1"/>
            <a:r>
              <a:rPr lang="en-US" dirty="0"/>
              <a:t>Owners, Managers, Charterers, Agents, Ports, Insurers</a:t>
            </a:r>
          </a:p>
          <a:p>
            <a:r>
              <a:rPr lang="en-US" dirty="0"/>
              <a:t>Report requirements can change voyage-by-voyage </a:t>
            </a:r>
          </a:p>
          <a:p>
            <a:r>
              <a:rPr lang="en-US" dirty="0"/>
              <a:t>High workload on Master &amp; Chief Engineer </a:t>
            </a:r>
          </a:p>
          <a:p>
            <a:r>
              <a:rPr lang="en-US" dirty="0"/>
              <a:t>Risk of inconsistency and errors</a:t>
            </a:r>
          </a:p>
          <a:p>
            <a:r>
              <a:rPr lang="en-US" dirty="0"/>
              <a:t>No </a:t>
            </a:r>
            <a:r>
              <a:rPr lang="en-US" dirty="0" err="1"/>
              <a:t>Standardisation</a:t>
            </a:r>
            <a:endParaRPr lang="en-US" dirty="0"/>
          </a:p>
          <a:p>
            <a:r>
              <a:rPr lang="en-US" dirty="0"/>
              <a:t>Fragmented data entry between bridge and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2DBC9-4753-BBA5-0ED1-FBB1B376A1DF}"/>
              </a:ext>
            </a:extLst>
          </p:cNvPr>
          <p:cNvSpPr txBox="1"/>
          <p:nvPr/>
        </p:nvSpPr>
        <p:spPr>
          <a:xfrm>
            <a:off x="9680028" y="2052918"/>
            <a:ext cx="2228193" cy="2308324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Type of reports: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Noon day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Arrival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Departure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Off-Hire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Bunker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67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5C3E-247C-1856-546D-2AA15929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Why this is increasingly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CA3D5-2710-4CBF-AE14-D5F09E46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1"/>
              <a:t>Masters have an increasing admin burden </a:t>
            </a:r>
          </a:p>
          <a:p>
            <a:r>
              <a:rPr lang="en-GB" noProof="1"/>
              <a:t>Emissions and CII reporting expanding</a:t>
            </a:r>
          </a:p>
          <a:p>
            <a:r>
              <a:rPr lang="en-GB" noProof="1"/>
              <a:t>Charterers demanding structured data </a:t>
            </a:r>
          </a:p>
          <a:p>
            <a:r>
              <a:rPr lang="en-GB" noProof="1"/>
              <a:t>API Integration is becoming a standard</a:t>
            </a:r>
          </a:p>
          <a:p>
            <a:r>
              <a:rPr lang="en-GB" noProof="1"/>
              <a:t>Commercial disputes often data-driven</a:t>
            </a:r>
          </a:p>
          <a:p>
            <a:pPr lvl="1"/>
            <a:r>
              <a:rPr lang="en-GB" noProof="1"/>
              <a:t>E.g. Speed and Performance </a:t>
            </a:r>
          </a:p>
          <a:p>
            <a:pPr lvl="1"/>
            <a:endParaRPr lang="en-GB" noProof="1"/>
          </a:p>
          <a:p>
            <a:pPr marL="0" indent="0">
              <a:buNone/>
            </a:pPr>
            <a:r>
              <a:rPr lang="en-GB" noProof="1"/>
              <a:t>The data and reporting burden is increasing, not decreasing. </a:t>
            </a:r>
          </a:p>
        </p:txBody>
      </p:sp>
    </p:spTree>
    <p:extLst>
      <p:ext uri="{BB962C8B-B14F-4D97-AF65-F5344CB8AC3E}">
        <p14:creationId xmlns:p14="http://schemas.microsoft.com/office/powerpoint/2010/main" val="245202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4FCF-D890-BEDD-6710-461A9601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D2D65-6698-6849-170E-BF76A3D4C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problem is not reporting. </a:t>
            </a:r>
          </a:p>
          <a:p>
            <a:pPr marL="0" indent="0">
              <a:buNone/>
            </a:pPr>
            <a:r>
              <a:rPr lang="en-US" dirty="0"/>
              <a:t>The problem is data architecture.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Today: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Reports are template first </a:t>
            </a:r>
          </a:p>
          <a:p>
            <a:pPr marL="0" indent="0">
              <a:buNone/>
            </a:pPr>
            <a:r>
              <a:rPr lang="en-US" dirty="0"/>
              <a:t>We propose: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Data-first architecture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Enter data ONCE. If possible, use automated data acquisition. Generate unlimited structured outputs. </a:t>
            </a:r>
          </a:p>
        </p:txBody>
      </p:sp>
    </p:spTree>
    <p:extLst>
      <p:ext uri="{BB962C8B-B14F-4D97-AF65-F5344CB8AC3E}">
        <p14:creationId xmlns:p14="http://schemas.microsoft.com/office/powerpoint/2010/main" val="274038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42F0-764D-8A04-3381-97E2D6AB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2EC0-94F9-B1D8-7403-96B7514E3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centralized maritime reporting platform built on: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IMO Data Compendium field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Fleet-configured field selection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rule validation (Red / Amber / Green)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consumer formatting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Multi-format report delivery based on consumers needs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code to install on vessel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GB" dirty="0"/>
              <a:t>One structured dataset → Multiple stakeholder outputs.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5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C513-3AE8-FE1F-5141-65AA8AF1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Intelligent Data Quality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1A3BA-B63D-A299-4E9F-C379E5D3C9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Each field:</a:t>
            </a:r>
          </a:p>
          <a:p>
            <a:r>
              <a:rPr lang="en-GB" dirty="0"/>
              <a:t>Has business rules applied</a:t>
            </a:r>
          </a:p>
          <a:p>
            <a:r>
              <a:rPr lang="en-GB" dirty="0"/>
              <a:t>Validates operational plausibility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Validation states:</a:t>
            </a:r>
          </a:p>
          <a:p>
            <a:r>
              <a:rPr lang="en-GB" dirty="0"/>
              <a:t>🔴 Red – must re-enter</a:t>
            </a:r>
          </a:p>
          <a:p>
            <a:r>
              <a:rPr lang="en-GB" dirty="0"/>
              <a:t>🟠 Amber – confirm</a:t>
            </a:r>
          </a:p>
          <a:p>
            <a:r>
              <a:rPr lang="en-GB" dirty="0"/>
              <a:t>🟢 Green – accepted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723407-D430-B7E5-E7A7-188DFF9CF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6316790" cy="3640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Benefits:</a:t>
            </a:r>
          </a:p>
          <a:p>
            <a:r>
              <a:rPr lang="en-GB" dirty="0"/>
              <a:t>Reduced disputes</a:t>
            </a:r>
          </a:p>
          <a:p>
            <a:r>
              <a:rPr lang="en-GB" dirty="0"/>
              <a:t>Improved commercial trust</a:t>
            </a:r>
          </a:p>
          <a:p>
            <a:r>
              <a:rPr lang="en-GB" dirty="0"/>
              <a:t>Standardised data integrity</a:t>
            </a:r>
          </a:p>
          <a:p>
            <a:r>
              <a:rPr lang="en-GB" dirty="0"/>
              <a:t>Early anomaly detection</a:t>
            </a:r>
          </a:p>
          <a:p>
            <a:r>
              <a:rPr lang="en-GB" dirty="0"/>
              <a:t>Vessel enters only what is need</a:t>
            </a:r>
          </a:p>
          <a:p>
            <a:r>
              <a:rPr lang="en-GB" dirty="0"/>
              <a:t>Dynamic forms for the vessel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68A0B-0201-397B-10B2-64BF664E072F}"/>
              </a:ext>
            </a:extLst>
          </p:cNvPr>
          <p:cNvSpPr txBox="1"/>
          <p:nvPr/>
        </p:nvSpPr>
        <p:spPr>
          <a:xfrm>
            <a:off x="1096900" y="5696607"/>
            <a:ext cx="8503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dirty="0"/>
              <a:t>This becomes a quality-control layer — not just a form tool.</a:t>
            </a:r>
          </a:p>
        </p:txBody>
      </p:sp>
    </p:spTree>
    <p:extLst>
      <p:ext uri="{BB962C8B-B14F-4D97-AF65-F5344CB8AC3E}">
        <p14:creationId xmlns:p14="http://schemas.microsoft.com/office/powerpoint/2010/main" val="31964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8C4F-AABB-7E1C-7F5B-82D0C656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Multi-Source Data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659D4-788B-2915-ECE3-1C8D89CA5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5118812" cy="4195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reduce manual input by integrating:</a:t>
            </a:r>
          </a:p>
          <a:p>
            <a:r>
              <a:rPr lang="en-GB" dirty="0"/>
              <a:t>AIS feeds</a:t>
            </a:r>
          </a:p>
          <a:p>
            <a:r>
              <a:rPr lang="en-GB" dirty="0"/>
              <a:t>Weather data</a:t>
            </a:r>
          </a:p>
          <a:p>
            <a:r>
              <a:rPr lang="en-GB" dirty="0"/>
              <a:t>Electronic Deck Logs (</a:t>
            </a:r>
            <a:r>
              <a:rPr lang="en-GB" dirty="0" err="1"/>
              <a:t>eDeckLog</a:t>
            </a:r>
            <a:r>
              <a:rPr lang="en-GB" dirty="0"/>
              <a:t>)</a:t>
            </a:r>
          </a:p>
          <a:p>
            <a:r>
              <a:rPr lang="en-GB" dirty="0"/>
              <a:t>Bridge &amp; Engine inputs (separate forms)</a:t>
            </a:r>
          </a:p>
          <a:p>
            <a:r>
              <a:rPr lang="en-GB" dirty="0"/>
              <a:t>Temporal reconciliation engine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6933B-68A6-06F6-6691-6DEBDA8ED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6755" y="2056093"/>
            <a:ext cx="4396341" cy="4200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system reconciles:</a:t>
            </a:r>
          </a:p>
          <a:p>
            <a:r>
              <a:rPr lang="en-GB" dirty="0"/>
              <a:t>Different entry times</a:t>
            </a:r>
          </a:p>
          <a:p>
            <a:r>
              <a:rPr lang="en-GB" dirty="0"/>
              <a:t>Different onboard departments</a:t>
            </a:r>
          </a:p>
          <a:p>
            <a:r>
              <a:rPr lang="en-GB" dirty="0"/>
              <a:t>External data streams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This improves:</a:t>
            </a:r>
          </a:p>
          <a:p>
            <a:r>
              <a:rPr lang="en-GB" dirty="0"/>
              <a:t>Accuracy</a:t>
            </a:r>
          </a:p>
          <a:p>
            <a:r>
              <a:rPr lang="en-GB" dirty="0"/>
              <a:t>Auditability</a:t>
            </a:r>
          </a:p>
          <a:p>
            <a:r>
              <a:rPr lang="en-GB" dirty="0"/>
              <a:t>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7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9FFF-3E1E-E14B-534F-2B4C8E35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Value to Industry Software Providers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66C7D-8FD2-D566-B3A9-E9088CA48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431976"/>
            <a:ext cx="4396339" cy="362123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It can act as:</a:t>
            </a:r>
          </a:p>
          <a:p>
            <a:r>
              <a:rPr lang="en-GB" dirty="0"/>
              <a:t>A data ingestion layer</a:t>
            </a:r>
          </a:p>
          <a:p>
            <a:r>
              <a:rPr lang="en-GB" dirty="0"/>
              <a:t>A validation layer</a:t>
            </a:r>
          </a:p>
          <a:p>
            <a:r>
              <a:rPr lang="en-GB" dirty="0"/>
              <a:t>A structured API output engine</a:t>
            </a:r>
          </a:p>
          <a:p>
            <a:r>
              <a:rPr lang="en-GB" dirty="0"/>
              <a:t>A standardised reporting interface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4527C0-586E-B8A5-B142-CAC95D620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94483" y="2446574"/>
            <a:ext cx="4396341" cy="362509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Strategic integration opportunities:</a:t>
            </a:r>
          </a:p>
          <a:p>
            <a:r>
              <a:rPr lang="en-GB" dirty="0"/>
              <a:t>Fleet management platforms</a:t>
            </a:r>
          </a:p>
          <a:p>
            <a:r>
              <a:rPr lang="en-GB" dirty="0"/>
              <a:t>Voyage management systems</a:t>
            </a:r>
          </a:p>
          <a:p>
            <a:r>
              <a:rPr lang="en-GB" dirty="0"/>
              <a:t>Chartering software</a:t>
            </a:r>
          </a:p>
          <a:p>
            <a:r>
              <a:rPr lang="en-GB" dirty="0"/>
              <a:t>Compliance tools</a:t>
            </a:r>
          </a:p>
          <a:p>
            <a:r>
              <a:rPr lang="en-GB" dirty="0"/>
              <a:t>ESG platforms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F045B-AE76-24F0-19A6-DC27DC0D8E42}"/>
              </a:ext>
            </a:extLst>
          </p:cNvPr>
          <p:cNvSpPr txBox="1"/>
          <p:nvPr/>
        </p:nvSpPr>
        <p:spPr>
          <a:xfrm>
            <a:off x="998483" y="19538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This is not just a reporting tool.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B42D8-650A-6A31-9081-B710E528C42F}"/>
              </a:ext>
            </a:extLst>
          </p:cNvPr>
          <p:cNvSpPr txBox="1"/>
          <p:nvPr/>
        </p:nvSpPr>
        <p:spPr>
          <a:xfrm>
            <a:off x="1049467" y="6071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We become an enabling infrastructure component.</a:t>
            </a:r>
          </a:p>
        </p:txBody>
      </p:sp>
    </p:spTree>
    <p:extLst>
      <p:ext uri="{BB962C8B-B14F-4D97-AF65-F5344CB8AC3E}">
        <p14:creationId xmlns:p14="http://schemas.microsoft.com/office/powerpoint/2010/main" val="45272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B55D-CA85-99FF-7197-6350A959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75AE-924E-919E-5B4B-5886E4718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4319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Primary adopters:</a:t>
            </a:r>
          </a:p>
          <a:p>
            <a:r>
              <a:rPr lang="en-GB" dirty="0"/>
              <a:t>Ship Owners</a:t>
            </a:r>
          </a:p>
          <a:p>
            <a:r>
              <a:rPr lang="en-GB" dirty="0"/>
              <a:t>Technical Managers</a:t>
            </a:r>
          </a:p>
          <a:p>
            <a:r>
              <a:rPr lang="en-GB" dirty="0" err="1"/>
              <a:t>Disponent</a:t>
            </a:r>
            <a:r>
              <a:rPr lang="en-GB" dirty="0"/>
              <a:t> Owners (Time Charterers)</a:t>
            </a:r>
          </a:p>
          <a:p>
            <a:pPr marL="0" indent="0">
              <a:buNone/>
            </a:pPr>
            <a:r>
              <a:rPr lang="en-GB" dirty="0"/>
              <a:t>Global fleet:</a:t>
            </a:r>
          </a:p>
          <a:p>
            <a:r>
              <a:rPr lang="en-GB" dirty="0"/>
              <a:t>~60,000 commercial vessels</a:t>
            </a:r>
          </a:p>
          <a:p>
            <a:r>
              <a:rPr lang="en-GB" dirty="0"/>
              <a:t>Realistic initial target: progressive managers (5–50 vessels)</a:t>
            </a:r>
          </a:p>
          <a:p>
            <a:pPr marL="0" indent="0">
              <a:buNone/>
            </a:pPr>
            <a:r>
              <a:rPr lang="en-GB" dirty="0"/>
              <a:t>Commercial model:</a:t>
            </a:r>
          </a:p>
          <a:p>
            <a:r>
              <a:rPr lang="en-GB" dirty="0"/>
              <a:t>Per vessel per month</a:t>
            </a:r>
          </a:p>
          <a:p>
            <a:r>
              <a:rPr lang="en-GB" dirty="0"/>
              <a:t>SaaS recurring revenue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is scalable across fleet size.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778A-4F8F-AE12-21E6-C22D9E04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4892-0C0F-8204-347E-0101A881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471B4D-C58B-7577-E891-E93981D39B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031921"/>
              </p:ext>
            </p:extLst>
          </p:nvPr>
        </p:nvGraphicFramePr>
        <p:xfrm>
          <a:off x="1103313" y="1481959"/>
          <a:ext cx="8947148" cy="4619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508">
                  <a:extLst>
                    <a:ext uri="{9D8B030D-6E8A-4147-A177-3AD203B41FA5}">
                      <a16:colId xmlns:a16="http://schemas.microsoft.com/office/drawing/2014/main" val="101235739"/>
                    </a:ext>
                  </a:extLst>
                </a:gridCol>
                <a:gridCol w="1376855">
                  <a:extLst>
                    <a:ext uri="{9D8B030D-6E8A-4147-A177-3AD203B41FA5}">
                      <a16:colId xmlns:a16="http://schemas.microsoft.com/office/drawing/2014/main" val="3666449548"/>
                    </a:ext>
                  </a:extLst>
                </a:gridCol>
                <a:gridCol w="1818290">
                  <a:extLst>
                    <a:ext uri="{9D8B030D-6E8A-4147-A177-3AD203B41FA5}">
                      <a16:colId xmlns:a16="http://schemas.microsoft.com/office/drawing/2014/main" val="2579361130"/>
                    </a:ext>
                  </a:extLst>
                </a:gridCol>
                <a:gridCol w="1957495">
                  <a:extLst>
                    <a:ext uri="{9D8B030D-6E8A-4147-A177-3AD203B41FA5}">
                      <a16:colId xmlns:a16="http://schemas.microsoft.com/office/drawing/2014/main" val="2764248314"/>
                    </a:ext>
                  </a:extLst>
                </a:gridCol>
              </a:tblGrid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Ship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77385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IMO Compliant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541660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Custom forms and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160383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Dynamic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638550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Static, Manual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988630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AI Generated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662200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AI Data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173981"/>
                  </a:ext>
                </a:extLst>
              </a:tr>
              <a:tr h="734321">
                <a:tc>
                  <a:txBody>
                    <a:bodyPr/>
                    <a:lstStyle/>
                    <a:p>
                      <a:r>
                        <a:rPr lang="en-US" dirty="0"/>
                        <a:t>Data exchange to multiple consumers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79098"/>
                  </a:ext>
                </a:extLst>
              </a:tr>
              <a:tr h="425440">
                <a:tc>
                  <a:txBody>
                    <a:bodyPr/>
                    <a:lstStyle/>
                    <a:p>
                      <a:r>
                        <a:rPr lang="en-US" dirty="0"/>
                        <a:t>Field Level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466841"/>
                  </a:ext>
                </a:extLst>
              </a:tr>
              <a:tr h="481226">
                <a:tc>
                  <a:txBody>
                    <a:bodyPr/>
                    <a:lstStyle/>
                    <a:p>
                      <a:r>
                        <a:rPr lang="en-US" dirty="0"/>
                        <a:t>Onboard Data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611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85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36E8-3B47-6B66-3DCA-15BD3E54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63A5-9CBA-FAFE-A8E5-5C48D0F75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34207"/>
            <a:ext cx="8946541" cy="50239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Initial model:</a:t>
            </a:r>
          </a:p>
          <a:p>
            <a:r>
              <a:rPr lang="en-GB" dirty="0"/>
              <a:t>£150–£300 per vessel per month (TBD)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Revenue drivers:</a:t>
            </a:r>
          </a:p>
          <a:p>
            <a:r>
              <a:rPr lang="en-GB" dirty="0"/>
              <a:t>Fleet size</a:t>
            </a:r>
          </a:p>
          <a:p>
            <a:r>
              <a:rPr lang="en-GB" dirty="0"/>
              <a:t>API integrations</a:t>
            </a:r>
          </a:p>
          <a:p>
            <a:r>
              <a:rPr lang="en-GB" dirty="0"/>
              <a:t>Advanced analytics module (future)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Strategic partner opportunity:</a:t>
            </a:r>
          </a:p>
          <a:p>
            <a:r>
              <a:rPr lang="en-GB" dirty="0"/>
              <a:t>White-label integration</a:t>
            </a:r>
          </a:p>
          <a:p>
            <a:r>
              <a:rPr lang="en-GB" dirty="0"/>
              <a:t>Revenue share</a:t>
            </a:r>
          </a:p>
          <a:p>
            <a:r>
              <a:rPr lang="en-GB" dirty="0"/>
              <a:t>Embedded module within existing platform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This is positioned for ecosystem expansion.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66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8788-219A-D83B-F1B0-086936A7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Roadmap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ECE93-0D0F-AC4A-A108-0CE22CCD2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947" y="1608083"/>
            <a:ext cx="2946866" cy="949379"/>
          </a:xfrm>
        </p:spPr>
        <p:txBody>
          <a:bodyPr anchor="t"/>
          <a:lstStyle/>
          <a:p>
            <a:r>
              <a:rPr lang="en-GB" dirty="0"/>
              <a:t>Phase 1 – MVP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99036B-A36D-A0FA-B724-936A005021A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Core field database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Form engine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Rules engine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Email / Excel /PDF outputs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1–2 pilot fleets</a:t>
            </a:r>
          </a:p>
          <a:p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C1882-C166-7A6C-E3D9-9DD792E01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83659" y="1608083"/>
            <a:ext cx="2936241" cy="949379"/>
          </a:xfrm>
        </p:spPr>
        <p:txBody>
          <a:bodyPr anchor="t"/>
          <a:lstStyle/>
          <a:p>
            <a:r>
              <a:rPr lang="en-GB" dirty="0"/>
              <a:t>Phase 2 – API &amp; Integration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728079-4E21-AB65-B314-13F39CECA5F3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Structured APIs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Excel output engine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External data feeds</a:t>
            </a:r>
          </a:p>
          <a:p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D9357D-EA13-7AD9-223E-DF89411AAE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24700" y="1608083"/>
            <a:ext cx="2932113" cy="949379"/>
          </a:xfrm>
        </p:spPr>
        <p:txBody>
          <a:bodyPr anchor="t"/>
          <a:lstStyle/>
          <a:p>
            <a:r>
              <a:rPr lang="en-GB" dirty="0"/>
              <a:t>Phase 3 – Intelligence Layer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7FD2FE-AC3A-31CE-4AF5-CA585579968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AI-assisted field configuration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Anomaly detection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2000" dirty="0"/>
              <a:t>Fleet benchmarking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0782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3A89-5F01-5261-2B24-F7BD094F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Strategic Pathway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FA8285-D64F-1231-838F-990C70D30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Designed for ecosystem integration</a:t>
            </a:r>
          </a:p>
          <a:p>
            <a:r>
              <a:rPr lang="en-GB" dirty="0"/>
              <a:t>Modular architecture</a:t>
            </a:r>
          </a:p>
          <a:p>
            <a:r>
              <a:rPr lang="en-GB" dirty="0"/>
              <a:t>API-ready</a:t>
            </a:r>
          </a:p>
          <a:p>
            <a:r>
              <a:rPr lang="en-GB" dirty="0"/>
              <a:t>White-label capable</a:t>
            </a:r>
          </a:p>
          <a:p>
            <a:r>
              <a:rPr lang="en-GB" dirty="0"/>
              <a:t>Natural acquisition pathway for fleet software providers</a:t>
            </a:r>
          </a:p>
          <a:p>
            <a:r>
              <a:rPr lang="en-GB" dirty="0"/>
              <a:t>Designed for secure data exchange </a:t>
            </a:r>
          </a:p>
          <a:p>
            <a:r>
              <a:rPr lang="en-GB" dirty="0"/>
              <a:t>Work with 3</a:t>
            </a:r>
            <a:r>
              <a:rPr lang="en-GB" baseline="30000" dirty="0"/>
              <a:t>rd</a:t>
            </a:r>
            <a:r>
              <a:rPr lang="en-GB" dirty="0"/>
              <a:t> Party on-board data collectors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77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0D6C1-74E9-13E2-7C3F-35E57E4F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C89C-D8D5-B802-3F8F-576FAEDAF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GB" dirty="0"/>
              <a:t>Technical Direction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42D34-0CE0-D7F7-7917-AFBF4677E9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8" t="4172" b="34237"/>
          <a:stretch>
            <a:fillRect/>
          </a:stretch>
        </p:blipFill>
        <p:spPr>
          <a:xfrm>
            <a:off x="6094410" y="834235"/>
            <a:ext cx="5449471" cy="2310257"/>
          </a:xfrm>
          <a:prstGeom prst="rect">
            <a:avLst/>
          </a:prstGeom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DDAF76-8D32-D333-2A05-9713EDF2A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92" y="2052917"/>
            <a:ext cx="4907379" cy="4195481"/>
          </a:xfrm>
        </p:spPr>
        <p:txBody>
          <a:bodyPr>
            <a:normAutofit/>
          </a:bodyPr>
          <a:lstStyle/>
          <a:p>
            <a:r>
              <a:rPr lang="en-GB" dirty="0"/>
              <a:t>Highly secure infrastructure </a:t>
            </a:r>
          </a:p>
          <a:p>
            <a:pPr lvl="1"/>
            <a:r>
              <a:rPr lang="en-GB" dirty="0"/>
              <a:t>All access validated before any action</a:t>
            </a:r>
          </a:p>
          <a:p>
            <a:pPr lvl="1"/>
            <a:r>
              <a:rPr lang="en-GB" dirty="0"/>
              <a:t>Data exchange managed by client</a:t>
            </a:r>
          </a:p>
          <a:p>
            <a:pPr lvl="1"/>
            <a:r>
              <a:rPr lang="en-GB" dirty="0"/>
              <a:t>Segregation of company data </a:t>
            </a:r>
            <a:br>
              <a:rPr lang="en-GB" dirty="0"/>
            </a:br>
            <a:endParaRPr lang="en-GB" dirty="0"/>
          </a:p>
          <a:p>
            <a:r>
              <a:rPr lang="en-GB" dirty="0"/>
              <a:t>AI Assistance </a:t>
            </a:r>
          </a:p>
          <a:p>
            <a:pPr lvl="1"/>
            <a:r>
              <a:rPr lang="en-GB" dirty="0"/>
              <a:t>To help build per-vessel forms </a:t>
            </a:r>
          </a:p>
          <a:p>
            <a:pPr lvl="1"/>
            <a:r>
              <a:rPr lang="en-GB" dirty="0"/>
              <a:t>Validation of vessel response 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335AA-8CC5-9CA3-6342-038AE4131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266" y="3526971"/>
            <a:ext cx="3779759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20661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5311-9E0B-1723-EACD-6768547B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3839-9D43-BE48-4833-C0600520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Flows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83D3AA-25B5-8B60-DC17-A93B651AD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687205"/>
            <a:ext cx="10899778" cy="488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75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5A3D-8427-B57D-915C-44BA9811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C0B908-E6A4-A402-1B8B-28840FD61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From: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8A34F65-912E-5947-6925-7EBCC8602C8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2483069"/>
          </a:xfrm>
        </p:spPr>
        <p:txBody>
          <a:bodyPr/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Strategic maritime software provider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Established maritime services company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Industry-aligned investor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886C99A-4002-8D10-089D-960D06162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Use of funds: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538021-140A-5980-F42D-05B11A3EF830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2483069"/>
          </a:xfrm>
        </p:spPr>
        <p:txBody>
          <a:bodyPr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MVP development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Integration framework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Pilot onboarding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Security &amp; compliance hardening</a:t>
            </a:r>
          </a:p>
          <a:p>
            <a:endParaRPr lang="en-US" sz="1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64FF51-DF7B-FA36-0A56-30A133CF15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We are seeking: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0F807F7-410A-9E1B-0200-E25383702771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2483069"/>
          </a:xfrm>
        </p:spPr>
        <p:txBody>
          <a:bodyPr/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Capital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Industry validation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dirty="0"/>
              <a:t>Integration partnership</a:t>
            </a:r>
          </a:p>
          <a:p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32D9E-3D76-2B20-7ADA-692F6CBDDD77}"/>
              </a:ext>
            </a:extLst>
          </p:cNvPr>
          <p:cNvSpPr txBox="1"/>
          <p:nvPr/>
        </p:nvSpPr>
        <p:spPr>
          <a:xfrm>
            <a:off x="646111" y="1376855"/>
            <a:ext cx="10295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We are raising: 		</a:t>
            </a:r>
            <a:r>
              <a:rPr lang="en-GB" b="1" dirty="0"/>
              <a:t>£50,000 – £100,000 seed capital</a:t>
            </a:r>
          </a:p>
          <a:p>
            <a:r>
              <a:rPr lang="en-GB" dirty="0"/>
              <a:t>This will secure:		</a:t>
            </a:r>
            <a:r>
              <a:rPr lang="en-GB" b="1" dirty="0"/>
              <a:t>A share of the marketing company and a seat on the board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6565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48317E0-10EA-E6F7-6DD1-E9764791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6B0AE96-67AD-3E65-7936-F8E826ED9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13078" y="1312991"/>
            <a:ext cx="3454336" cy="21160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Adrian Challinor </a:t>
            </a:r>
          </a:p>
          <a:p>
            <a:pPr marL="0" indent="0">
              <a:buNone/>
            </a:pPr>
            <a:r>
              <a:rPr lang="en-US" dirty="0"/>
              <a:t>Osiris Consultants Ltd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adrian.challinor@osiris.co.uk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+44-7860-290-883	</a:t>
            </a:r>
          </a:p>
          <a:p>
            <a:endParaRPr lang="en-US" dirty="0"/>
          </a:p>
        </p:txBody>
      </p:sp>
      <p:pic>
        <p:nvPicPr>
          <p:cNvPr id="17" name="Content Placeholder 16" descr="A yellow triangle on a blue background&#10;&#10;AI-generated content may be incorrect.">
            <a:extLst>
              <a:ext uri="{FF2B5EF4-FFF2-40B4-BE49-F238E27FC236}">
                <a16:creationId xmlns:a16="http://schemas.microsoft.com/office/drawing/2014/main" id="{FED73F0A-41FB-25B5-3E42-20BA8904DA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6111" y="1312991"/>
            <a:ext cx="1371876" cy="1434463"/>
          </a:xfrm>
          <a:prstGeom prst="rect">
            <a:avLst/>
          </a:prstGeom>
        </p:spPr>
      </p:pic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A8095D12-AAC5-D313-439C-922019AE209C}"/>
              </a:ext>
            </a:extLst>
          </p:cNvPr>
          <p:cNvSpPr txBox="1">
            <a:spLocks/>
          </p:cNvSpPr>
          <p:nvPr/>
        </p:nvSpPr>
        <p:spPr>
          <a:xfrm>
            <a:off x="8351755" y="1312991"/>
            <a:ext cx="3060915" cy="21160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Mike Powell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Cardinal Point Marine Ltd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mike@cpmarine.co.uk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+44-7826-872-606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8E254D-B57B-1B64-3DC8-B4DA5B4A1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944" y="1015614"/>
            <a:ext cx="2060811" cy="206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61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4670</TotalTime>
  <Words>803</Words>
  <Application>Microsoft Macintosh PowerPoint</Application>
  <PresentationFormat>Widescreen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Wingdings</vt:lpstr>
      <vt:lpstr>Wingdings 3</vt:lpstr>
      <vt:lpstr>Ion</vt:lpstr>
      <vt:lpstr> Maritime Reporting.  Enter Once. Deliver Everywhere. </vt:lpstr>
      <vt:lpstr>The Operational Problem</vt:lpstr>
      <vt:lpstr>Why this is increasingly critical</vt:lpstr>
      <vt:lpstr>The core Insight</vt:lpstr>
      <vt:lpstr>The solution</vt:lpstr>
      <vt:lpstr>Intelligent Data Quality Layer</vt:lpstr>
      <vt:lpstr>Multi-Source Data Integration</vt:lpstr>
      <vt:lpstr>Strategic Value to Industry Software Providers</vt:lpstr>
      <vt:lpstr>Target Market</vt:lpstr>
      <vt:lpstr>Competition</vt:lpstr>
      <vt:lpstr>Business Model</vt:lpstr>
      <vt:lpstr>Development Roadmap</vt:lpstr>
      <vt:lpstr>Strategic Pathway</vt:lpstr>
      <vt:lpstr>Technical Direction</vt:lpstr>
      <vt:lpstr>Data Flows</vt:lpstr>
      <vt:lpstr>The Ask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Challinor</dc:creator>
  <cp:lastModifiedBy>Adrian Challinor</cp:lastModifiedBy>
  <cp:revision>12</cp:revision>
  <dcterms:created xsi:type="dcterms:W3CDTF">2026-02-25T10:15:19Z</dcterms:created>
  <dcterms:modified xsi:type="dcterms:W3CDTF">2026-03-25T11:34:51Z</dcterms:modified>
</cp:coreProperties>
</file>